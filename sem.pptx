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D380A-B25C-4554-9D12-6A864851EAA3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53628-D422-490A-B670-D481D4DAF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F2E77-788A-9C1E-A253-E519B641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4A005-A4AE-48B5-9B72-AC59F9D0C9F3}" type="datetime1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498E3-ED2D-6826-7063-38EB8891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161BF-6988-026C-DC94-2566B9B7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2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47E8-ECBE-386A-59D3-99FCD9C8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C658-EDE0-BA68-5E59-5A8AE19B7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B6D6-EA20-5153-F9E6-69BE378DA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D8551-6A6D-0059-4C2D-C744DB80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FA687-E925-6CDC-8C7E-7C88CD08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9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5B58-257B-3360-2D4E-3A189798C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B5218-484E-2B62-9425-B97EE0F44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002CB-4614-0299-EDD5-8B440101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454-2FB9-4C8F-B182-7B2E5743343C}" type="datetime1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D11BC-DD39-8C40-2266-8449E8E2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50166-28D8-2DDD-636F-FD317779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6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72B2-850D-2F4C-6716-85D5B2D7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00FC-42E7-C5BA-C8AC-E0FEED1D1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F8609-C937-CBCC-AEB9-BF37DF681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492CB-5016-8804-EC3D-0E23BC9D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650C-01B7-4756-A73F-6F4EA1E5431E}" type="datetime1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F2CA0-62A7-3F15-B164-0AEED105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D77B4-97C3-0109-492A-4CB1B065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7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0D8A-FA99-1027-FEC9-8FDFF362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42391-9774-2E4C-C170-3FE9774B8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1A0E3-5607-927A-7181-9A807B9F4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8725F-934A-682D-D056-CDE6C388B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43AAD-ACFD-0BD4-4A71-BA3ECBF99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2CC47-F10F-8A91-81CA-F3A85726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1D95-9BF9-4CE1-A0EA-90FF297D19D0}" type="datetime1">
              <a:rPr lang="en-US" smtClean="0"/>
              <a:t>21-Oct-26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C06B0-830C-FBEE-FECE-C6406EF9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B5166-40BA-5202-2D38-1BA48B8A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0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52DB-965F-D567-974C-4831D0273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18B86-2CE2-5395-B958-F12A1003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80EBF-8A8A-40F0-86A7-7286F440E0F3}" type="datetime1">
              <a:rPr lang="en-US" smtClean="0"/>
              <a:t>21-Oct-26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887C2-51F3-E8A5-28C0-2C405A47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BC180-A612-3483-A0E1-6AB31CA0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2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F26E7-965A-6AC1-351E-3BF6ACBD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7337-48F7-4AF7-9A31-C231AA9DABEB}" type="datetime1">
              <a:rPr lang="en-US" smtClean="0"/>
              <a:t>21-Oct-26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F3A08-7728-7EE4-12FE-99584A06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1E605-1894-7F38-96D7-5711BA10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3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D52C-F553-7253-3DE6-B294241B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6EE6A-61D8-D2C7-AC2A-BAD820BAC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4D0E1-40CD-A415-635E-7B576877B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D09A8-16DE-895E-2FE5-490F44A7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0AB9-8616-4B55-B544-8181381708AB}" type="datetime1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81FF2-B792-3CF2-49A0-9DAB4221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FA9E5-F4BF-CDB1-5103-4CD6FA63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7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2051-2331-215D-2FDD-370D7A88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0711D-48C9-0C54-AC74-04A3AAD45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EC347-4A26-72BD-E2FC-29DFEC1F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5EAAE-4733-3414-1943-04DD07D9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D518-531C-4414-B657-2CD37CCA6B63}" type="datetime1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23DCB-8125-80EF-6294-84DE2F57B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398A8-CDCE-094C-42A2-3D874E3B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6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48C1-0408-D8AF-69A2-588425BC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A3F95-D448-1D26-F510-A0FB77EC6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9917-0033-D989-92E8-CE98F113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7074-5979-461C-BB0D-F24AD7AEA7D7}" type="datetime1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0D59D-1B12-2463-BE4C-9D8702C2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4DA28-4071-592C-92AE-FA0CA34D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84654F-0ECF-8954-9B9E-9F1990569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3D16A-A760-D48C-1E66-0E3F9C8F4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5E059-1E45-81B2-2FD4-F0902482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A7B2-F8F1-4C99-9A58-0619E9B4236C}" type="datetime1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B7F42-4E93-CA7A-A3D6-1E12EACC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4C34D-6493-F571-4B38-C06CB99F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ABAA540-A6A4-6FCD-6D2C-846752BF3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EF68A88-107A-0C66-FB5E-4F233A6E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BD8FF30-CF30-5046-A4F8-DF90BEA4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10/05/1448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F63F43A-A37B-605A-2B45-2B3F2178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A362067-5D85-1320-558D-640A023C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66011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C9861-6315-7D19-1FC2-C18236A7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1EFFF-1B3C-0223-E81F-FF7E22B49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E9D6D-05BC-2BD6-8D4D-8631CA54E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9F99F-ECCB-4E1D-B4DE-BB12197DD00B}" type="datetime1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39DBC-854C-A039-E3A7-5A146D3F6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828-C825-6DB3-1130-384DF2FBA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8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>
            <a:extLst>
              <a:ext uri="{FF2B5EF4-FFF2-40B4-BE49-F238E27FC236}">
                <a16:creationId xmlns:a16="http://schemas.microsoft.com/office/drawing/2014/main" id="{EC4BE42B-7A9E-9EF6-8A1D-5DFF837B8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728" y="149998"/>
            <a:ext cx="3188973" cy="2153076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53ABC8F4-C832-0BDB-7D80-8C04CA920AD2}"/>
              </a:ext>
            </a:extLst>
          </p:cNvPr>
          <p:cNvSpPr txBox="1"/>
          <p:nvPr/>
        </p:nvSpPr>
        <p:spPr>
          <a:xfrm>
            <a:off x="1" y="587890"/>
            <a:ext cx="4807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SYRIAN PRIVATE UNIVERSITY</a:t>
            </a:r>
          </a:p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COMPUTER &amp; INFORMATICS ENGINEERING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61D0EE33-F3A1-7243-3426-910356B531E2}"/>
              </a:ext>
            </a:extLst>
          </p:cNvPr>
          <p:cNvSpPr txBox="1"/>
          <p:nvPr/>
        </p:nvSpPr>
        <p:spPr>
          <a:xfrm>
            <a:off x="2160266" y="3158879"/>
            <a:ext cx="7871459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Sulaf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Walid Al-Samarra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8679681D-12EB-2676-C50D-B7855EBD606B}"/>
              </a:ext>
            </a:extLst>
          </p:cNvPr>
          <p:cNvSpPr txBox="1"/>
          <p:nvPr/>
        </p:nvSpPr>
        <p:spPr>
          <a:xfrm>
            <a:off x="4807522" y="5038581"/>
            <a:ext cx="2576945" cy="1688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Dr.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Akram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Masouh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 rtl="1">
              <a:lnSpc>
                <a:spcPct val="150000"/>
              </a:lnSpc>
            </a:pP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2026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436E9F-C34B-0353-472D-ECB73184841E}"/>
              </a:ext>
            </a:extLst>
          </p:cNvPr>
          <p:cNvSpPr txBox="1"/>
          <p:nvPr/>
        </p:nvSpPr>
        <p:spPr>
          <a:xfrm>
            <a:off x="2953654" y="2562092"/>
            <a:ext cx="6284684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Learning Management System LMS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99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E7FC2-E2D6-AA88-BA76-78269905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C0DA9-B68A-02B5-F06B-4E1F163F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E9A2F-3005-24AC-8E5D-EB352139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FC31A-9169-D8D3-0832-75487FE0E92E}"/>
              </a:ext>
            </a:extLst>
          </p:cNvPr>
          <p:cNvSpPr txBox="1"/>
          <p:nvPr/>
        </p:nvSpPr>
        <p:spPr>
          <a:xfrm>
            <a:off x="969264" y="475488"/>
            <a:ext cx="10305288" cy="118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Importance</a:t>
            </a:r>
            <a:endParaRPr lang="en-US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L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102;p14">
            <a:extLst>
              <a:ext uri="{FF2B5EF4-FFF2-40B4-BE49-F238E27FC236}">
                <a16:creationId xmlns:a16="http://schemas.microsoft.com/office/drawing/2014/main" id="{D24053B8-D123-4FB6-82E5-4AF01060E208}"/>
              </a:ext>
            </a:extLst>
          </p:cNvPr>
          <p:cNvSpPr/>
          <p:nvPr/>
        </p:nvSpPr>
        <p:spPr>
          <a:xfrm>
            <a:off x="609600" y="2856904"/>
            <a:ext cx="3505200" cy="2024062"/>
          </a:xfrm>
          <a:prstGeom prst="roundRect">
            <a:avLst>
              <a:gd name="adj" fmla="val 56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03;p14">
            <a:extLst>
              <a:ext uri="{FF2B5EF4-FFF2-40B4-BE49-F238E27FC236}">
                <a16:creationId xmlns:a16="http://schemas.microsoft.com/office/drawing/2014/main" id="{1DD55494-BA60-433D-AAC3-64B27ED4CED3}"/>
              </a:ext>
            </a:extLst>
          </p:cNvPr>
          <p:cNvSpPr/>
          <p:nvPr/>
        </p:nvSpPr>
        <p:spPr>
          <a:xfrm>
            <a:off x="4343400" y="2856904"/>
            <a:ext cx="3505200" cy="2024062"/>
          </a:xfrm>
          <a:prstGeom prst="roundRect">
            <a:avLst>
              <a:gd name="adj" fmla="val 56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04;p14">
            <a:extLst>
              <a:ext uri="{FF2B5EF4-FFF2-40B4-BE49-F238E27FC236}">
                <a16:creationId xmlns:a16="http://schemas.microsoft.com/office/drawing/2014/main" id="{1FC667F3-5A9B-411C-AC26-DCD56A7EA8D9}"/>
              </a:ext>
            </a:extLst>
          </p:cNvPr>
          <p:cNvSpPr/>
          <p:nvPr/>
        </p:nvSpPr>
        <p:spPr>
          <a:xfrm>
            <a:off x="8077200" y="2749748"/>
            <a:ext cx="3505200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09;p14" descr="image.png">
            <a:extLst>
              <a:ext uri="{FF2B5EF4-FFF2-40B4-BE49-F238E27FC236}">
                <a16:creationId xmlns:a16="http://schemas.microsoft.com/office/drawing/2014/main" id="{5F72283A-D4AA-4591-B4C6-5F50621F572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6787" y="3237904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10;p14" descr="image.png">
            <a:extLst>
              <a:ext uri="{FF2B5EF4-FFF2-40B4-BE49-F238E27FC236}">
                <a16:creationId xmlns:a16="http://schemas.microsoft.com/office/drawing/2014/main" id="{0DBFF009-17CC-4E7B-BB80-93317FD667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4400" y="323790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11;p14" descr="image.png">
            <a:extLst>
              <a:ext uri="{FF2B5EF4-FFF2-40B4-BE49-F238E27FC236}">
                <a16:creationId xmlns:a16="http://schemas.microsoft.com/office/drawing/2014/main" id="{218C3833-95AF-48BA-BB65-FE04E62ADD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8675" y="3130748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14;p14">
            <a:extLst>
              <a:ext uri="{FF2B5EF4-FFF2-40B4-BE49-F238E27FC236}">
                <a16:creationId xmlns:a16="http://schemas.microsoft.com/office/drawing/2014/main" id="{95180D40-B513-47F1-8518-C41DAEF4AB13}"/>
              </a:ext>
            </a:extLst>
          </p:cNvPr>
          <p:cNvSpPr txBox="1"/>
          <p:nvPr/>
        </p:nvSpPr>
        <p:spPr>
          <a:xfrm>
            <a:off x="885825" y="3628429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Localization-First Paradigm</a:t>
            </a:r>
            <a:endParaRPr/>
          </a:p>
        </p:txBody>
      </p:sp>
      <p:sp>
        <p:nvSpPr>
          <p:cNvPr id="21" name="Google Shape;115;p14">
            <a:extLst>
              <a:ext uri="{FF2B5EF4-FFF2-40B4-BE49-F238E27FC236}">
                <a16:creationId xmlns:a16="http://schemas.microsoft.com/office/drawing/2014/main" id="{AAEE472B-E090-4FDF-82C1-F971F08BD486}"/>
              </a:ext>
            </a:extLst>
          </p:cNvPr>
          <p:cNvSpPr txBox="1"/>
          <p:nvPr/>
        </p:nvSpPr>
        <p:spPr>
          <a:xfrm>
            <a:off x="885825" y="3961804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Eliminates cognitive friction and layout fragmentation by engineering native Right-to-Left (RTL) navigation from inception.</a:t>
            </a:r>
            <a:endParaRPr/>
          </a:p>
        </p:txBody>
      </p:sp>
      <p:sp>
        <p:nvSpPr>
          <p:cNvPr id="22" name="Google Shape;116;p14">
            <a:extLst>
              <a:ext uri="{FF2B5EF4-FFF2-40B4-BE49-F238E27FC236}">
                <a16:creationId xmlns:a16="http://schemas.microsoft.com/office/drawing/2014/main" id="{3D96D840-4730-4FC9-8160-1A4C241F3F56}"/>
              </a:ext>
            </a:extLst>
          </p:cNvPr>
          <p:cNvSpPr txBox="1"/>
          <p:nvPr/>
        </p:nvSpPr>
        <p:spPr>
          <a:xfrm>
            <a:off x="4619625" y="3628429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Low-Overhead Infrastructure</a:t>
            </a:r>
            <a:endParaRPr/>
          </a:p>
        </p:txBody>
      </p:sp>
      <p:sp>
        <p:nvSpPr>
          <p:cNvPr id="23" name="Google Shape;117;p14">
            <a:extLst>
              <a:ext uri="{FF2B5EF4-FFF2-40B4-BE49-F238E27FC236}">
                <a16:creationId xmlns:a16="http://schemas.microsoft.com/office/drawing/2014/main" id="{6D4B54AA-63DD-4C6C-8F03-E93315550FD9}"/>
              </a:ext>
            </a:extLst>
          </p:cNvPr>
          <p:cNvSpPr txBox="1"/>
          <p:nvPr/>
        </p:nvSpPr>
        <p:spPr>
          <a:xfrm>
            <a:off x="4619625" y="3961804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Reduces strict dependency on expensive foreign SaaS cloud platforms via a zero-configuration SQLite/Django deployment.</a:t>
            </a:r>
            <a:endParaRPr/>
          </a:p>
        </p:txBody>
      </p:sp>
      <p:sp>
        <p:nvSpPr>
          <p:cNvPr id="24" name="Google Shape;118;p14">
            <a:extLst>
              <a:ext uri="{FF2B5EF4-FFF2-40B4-BE49-F238E27FC236}">
                <a16:creationId xmlns:a16="http://schemas.microsoft.com/office/drawing/2014/main" id="{E71A4859-57FC-41AD-9B41-274C68A7FF5D}"/>
              </a:ext>
            </a:extLst>
          </p:cNvPr>
          <p:cNvSpPr txBox="1"/>
          <p:nvPr/>
        </p:nvSpPr>
        <p:spPr>
          <a:xfrm>
            <a:off x="8353425" y="3521273"/>
            <a:ext cx="3838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Software Engineering Rigor</a:t>
            </a:r>
            <a:endParaRPr/>
          </a:p>
        </p:txBody>
      </p:sp>
      <p:sp>
        <p:nvSpPr>
          <p:cNvPr id="25" name="Google Shape;119;p14">
            <a:extLst>
              <a:ext uri="{FF2B5EF4-FFF2-40B4-BE49-F238E27FC236}">
                <a16:creationId xmlns:a16="http://schemas.microsoft.com/office/drawing/2014/main" id="{C5829401-545E-4934-9B99-882C528F5136}"/>
              </a:ext>
            </a:extLst>
          </p:cNvPr>
          <p:cNvSpPr txBox="1"/>
          <p:nvPr/>
        </p:nvSpPr>
        <p:spPr>
          <a:xfrm>
            <a:off x="8353425" y="3854648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Validates full Requirements Traceability Matrices (RTM) and model-driven UML behavioral modeling in higher education ecosystems.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356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F87B-DB91-279C-A082-B3653333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2DDC9-5CB8-7BD5-C787-157F1291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B69BB-1E0D-E2FB-517B-56C9C8D1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D8816-9B85-AB6D-1909-13902986402F}"/>
              </a:ext>
            </a:extLst>
          </p:cNvPr>
          <p:cNvSpPr txBox="1"/>
          <p:nvPr/>
        </p:nvSpPr>
        <p:spPr>
          <a:xfrm>
            <a:off x="534162" y="303395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Project Goals</a:t>
            </a:r>
          </a:p>
        </p:txBody>
      </p:sp>
      <p:sp>
        <p:nvSpPr>
          <p:cNvPr id="7" name="Google Shape;124;p15">
            <a:extLst>
              <a:ext uri="{FF2B5EF4-FFF2-40B4-BE49-F238E27FC236}">
                <a16:creationId xmlns:a16="http://schemas.microsoft.com/office/drawing/2014/main" id="{996238BA-7A4F-4588-B705-41E886F94F81}"/>
              </a:ext>
            </a:extLst>
          </p:cNvPr>
          <p:cNvSpPr/>
          <p:nvPr/>
        </p:nvSpPr>
        <p:spPr>
          <a:xfrm>
            <a:off x="609600" y="2749748"/>
            <a:ext cx="2571750" cy="22383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25;p15">
            <a:extLst>
              <a:ext uri="{FF2B5EF4-FFF2-40B4-BE49-F238E27FC236}">
                <a16:creationId xmlns:a16="http://schemas.microsoft.com/office/drawing/2014/main" id="{EF66349C-A425-4DD5-8F0A-306AF48B246C}"/>
              </a:ext>
            </a:extLst>
          </p:cNvPr>
          <p:cNvSpPr/>
          <p:nvPr/>
        </p:nvSpPr>
        <p:spPr>
          <a:xfrm>
            <a:off x="3409950" y="2749748"/>
            <a:ext cx="2571750" cy="22383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26;p15">
            <a:extLst>
              <a:ext uri="{FF2B5EF4-FFF2-40B4-BE49-F238E27FC236}">
                <a16:creationId xmlns:a16="http://schemas.microsoft.com/office/drawing/2014/main" id="{9C52FC3B-18E0-4E50-B5F7-E696C10E06BD}"/>
              </a:ext>
            </a:extLst>
          </p:cNvPr>
          <p:cNvSpPr/>
          <p:nvPr/>
        </p:nvSpPr>
        <p:spPr>
          <a:xfrm>
            <a:off x="6210300" y="2849760"/>
            <a:ext cx="2571750" cy="2038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7;p15">
            <a:extLst>
              <a:ext uri="{FF2B5EF4-FFF2-40B4-BE49-F238E27FC236}">
                <a16:creationId xmlns:a16="http://schemas.microsoft.com/office/drawing/2014/main" id="{E3ABF35E-45D1-4D2B-BBFC-5F554F4FE8BB}"/>
              </a:ext>
            </a:extLst>
          </p:cNvPr>
          <p:cNvSpPr/>
          <p:nvPr/>
        </p:nvSpPr>
        <p:spPr>
          <a:xfrm>
            <a:off x="9010650" y="2749748"/>
            <a:ext cx="2571750" cy="22383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8;p15">
            <a:extLst>
              <a:ext uri="{FF2B5EF4-FFF2-40B4-BE49-F238E27FC236}">
                <a16:creationId xmlns:a16="http://schemas.microsoft.com/office/drawing/2014/main" id="{3F7A377B-5712-4DBA-8361-B981030393AB}"/>
              </a:ext>
            </a:extLst>
          </p:cNvPr>
          <p:cNvSpPr/>
          <p:nvPr/>
        </p:nvSpPr>
        <p:spPr>
          <a:xfrm>
            <a:off x="609600" y="2749748"/>
            <a:ext cx="38100" cy="22383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9;p15">
            <a:extLst>
              <a:ext uri="{FF2B5EF4-FFF2-40B4-BE49-F238E27FC236}">
                <a16:creationId xmlns:a16="http://schemas.microsoft.com/office/drawing/2014/main" id="{4D2DBC59-8A94-41D0-BEC4-66AD0371BF19}"/>
              </a:ext>
            </a:extLst>
          </p:cNvPr>
          <p:cNvSpPr/>
          <p:nvPr/>
        </p:nvSpPr>
        <p:spPr>
          <a:xfrm>
            <a:off x="3409950" y="2749748"/>
            <a:ext cx="38100" cy="22383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30;p15">
            <a:extLst>
              <a:ext uri="{FF2B5EF4-FFF2-40B4-BE49-F238E27FC236}">
                <a16:creationId xmlns:a16="http://schemas.microsoft.com/office/drawing/2014/main" id="{4D4DC5C9-1FF5-41D4-836B-61DAAD1A2C32}"/>
              </a:ext>
            </a:extLst>
          </p:cNvPr>
          <p:cNvSpPr/>
          <p:nvPr/>
        </p:nvSpPr>
        <p:spPr>
          <a:xfrm>
            <a:off x="6210300" y="2849760"/>
            <a:ext cx="38100" cy="20383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31;p15">
            <a:extLst>
              <a:ext uri="{FF2B5EF4-FFF2-40B4-BE49-F238E27FC236}">
                <a16:creationId xmlns:a16="http://schemas.microsoft.com/office/drawing/2014/main" id="{E21A7D7F-1654-45AB-9884-CA9F56DD5D5B}"/>
              </a:ext>
            </a:extLst>
          </p:cNvPr>
          <p:cNvSpPr/>
          <p:nvPr/>
        </p:nvSpPr>
        <p:spPr>
          <a:xfrm>
            <a:off x="9010650" y="2749748"/>
            <a:ext cx="38100" cy="22383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35;p15">
            <a:extLst>
              <a:ext uri="{FF2B5EF4-FFF2-40B4-BE49-F238E27FC236}">
                <a16:creationId xmlns:a16="http://schemas.microsoft.com/office/drawing/2014/main" id="{8D6B6E42-E349-4094-86A3-68ACE6CEDA5D}"/>
              </a:ext>
            </a:extLst>
          </p:cNvPr>
          <p:cNvSpPr txBox="1"/>
          <p:nvPr/>
        </p:nvSpPr>
        <p:spPr>
          <a:xfrm>
            <a:off x="876300" y="2978348"/>
            <a:ext cx="25955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20" name="Google Shape;136;p15">
            <a:extLst>
              <a:ext uri="{FF2B5EF4-FFF2-40B4-BE49-F238E27FC236}">
                <a16:creationId xmlns:a16="http://schemas.microsoft.com/office/drawing/2014/main" id="{84FB9BCB-F210-4D0A-B33A-4708E174DF87}"/>
              </a:ext>
            </a:extLst>
          </p:cNvPr>
          <p:cNvSpPr txBox="1"/>
          <p:nvPr/>
        </p:nvSpPr>
        <p:spPr>
          <a:xfrm>
            <a:off x="876300" y="3445073"/>
            <a:ext cx="228028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Native RTL MVT Architecture</a:t>
            </a:r>
            <a:endParaRPr/>
          </a:p>
        </p:txBody>
      </p:sp>
      <p:sp>
        <p:nvSpPr>
          <p:cNvPr id="21" name="Google Shape;137;p15">
            <a:extLst>
              <a:ext uri="{FF2B5EF4-FFF2-40B4-BE49-F238E27FC236}">
                <a16:creationId xmlns:a16="http://schemas.microsoft.com/office/drawing/2014/main" id="{DFE6D6D2-F669-40A5-897E-EA53EDD0E0F5}"/>
              </a:ext>
            </a:extLst>
          </p:cNvPr>
          <p:cNvSpPr txBox="1"/>
          <p:nvPr/>
        </p:nvSpPr>
        <p:spPr>
          <a:xfrm>
            <a:off x="876300" y="3959423"/>
            <a:ext cx="21717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 a responsive Django web platform with 100% Arabic UI alignment using Bootstrap 5 RTL.</a:t>
            </a:r>
            <a:endParaRPr/>
          </a:p>
        </p:txBody>
      </p:sp>
      <p:sp>
        <p:nvSpPr>
          <p:cNvPr id="22" name="Google Shape;138;p15">
            <a:extLst>
              <a:ext uri="{FF2B5EF4-FFF2-40B4-BE49-F238E27FC236}">
                <a16:creationId xmlns:a16="http://schemas.microsoft.com/office/drawing/2014/main" id="{EF1330CD-2098-4446-9D65-06995ADC2CE0}"/>
              </a:ext>
            </a:extLst>
          </p:cNvPr>
          <p:cNvSpPr txBox="1"/>
          <p:nvPr/>
        </p:nvSpPr>
        <p:spPr>
          <a:xfrm>
            <a:off x="3676650" y="2978348"/>
            <a:ext cx="25955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23" name="Google Shape;139;p15">
            <a:extLst>
              <a:ext uri="{FF2B5EF4-FFF2-40B4-BE49-F238E27FC236}">
                <a16:creationId xmlns:a16="http://schemas.microsoft.com/office/drawing/2014/main" id="{AFC2EEA6-CA92-4127-879F-51A4828981AD}"/>
              </a:ext>
            </a:extLst>
          </p:cNvPr>
          <p:cNvSpPr txBox="1"/>
          <p:nvPr/>
        </p:nvSpPr>
        <p:spPr>
          <a:xfrm>
            <a:off x="3676650" y="3445073"/>
            <a:ext cx="228028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Academic Workflows</a:t>
            </a:r>
            <a:endParaRPr/>
          </a:p>
        </p:txBody>
      </p:sp>
      <p:sp>
        <p:nvSpPr>
          <p:cNvPr id="24" name="Google Shape;140;p15">
            <a:extLst>
              <a:ext uri="{FF2B5EF4-FFF2-40B4-BE49-F238E27FC236}">
                <a16:creationId xmlns:a16="http://schemas.microsoft.com/office/drawing/2014/main" id="{14B78A9C-76B8-44B3-822F-A23E89E60EDE}"/>
              </a:ext>
            </a:extLst>
          </p:cNvPr>
          <p:cNvSpPr txBox="1"/>
          <p:nvPr/>
        </p:nvSpPr>
        <p:spPr>
          <a:xfrm>
            <a:off x="3676650" y="3959423"/>
            <a:ext cx="21717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 complete course lifecycles, automated quiz grading, file submissions, and forums.</a:t>
            </a:r>
            <a:endParaRPr/>
          </a:p>
        </p:txBody>
      </p:sp>
      <p:sp>
        <p:nvSpPr>
          <p:cNvPr id="25" name="Google Shape;141;p15">
            <a:extLst>
              <a:ext uri="{FF2B5EF4-FFF2-40B4-BE49-F238E27FC236}">
                <a16:creationId xmlns:a16="http://schemas.microsoft.com/office/drawing/2014/main" id="{F802E303-211B-4ACB-9662-8C1683E06C96}"/>
              </a:ext>
            </a:extLst>
          </p:cNvPr>
          <p:cNvSpPr txBox="1"/>
          <p:nvPr/>
        </p:nvSpPr>
        <p:spPr>
          <a:xfrm>
            <a:off x="6477000" y="3078360"/>
            <a:ext cx="25955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26" name="Google Shape;142;p15">
            <a:extLst>
              <a:ext uri="{FF2B5EF4-FFF2-40B4-BE49-F238E27FC236}">
                <a16:creationId xmlns:a16="http://schemas.microsoft.com/office/drawing/2014/main" id="{C4D2FA69-CA48-4461-833B-E04151A97394}"/>
              </a:ext>
            </a:extLst>
          </p:cNvPr>
          <p:cNvSpPr txBox="1"/>
          <p:nvPr/>
        </p:nvSpPr>
        <p:spPr>
          <a:xfrm>
            <a:off x="6477000" y="3545085"/>
            <a:ext cx="228028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Heuristic At-Risk Analytics</a:t>
            </a:r>
            <a:endParaRPr/>
          </a:p>
        </p:txBody>
      </p:sp>
      <p:sp>
        <p:nvSpPr>
          <p:cNvPr id="27" name="Google Shape;143;p15">
            <a:extLst>
              <a:ext uri="{FF2B5EF4-FFF2-40B4-BE49-F238E27FC236}">
                <a16:creationId xmlns:a16="http://schemas.microsoft.com/office/drawing/2014/main" id="{B0C164FF-9942-4F4E-9FF5-AE52019634F9}"/>
              </a:ext>
            </a:extLst>
          </p:cNvPr>
          <p:cNvSpPr txBox="1"/>
          <p:nvPr/>
        </p:nvSpPr>
        <p:spPr>
          <a:xfrm>
            <a:off x="6477000" y="4059435"/>
            <a:ext cx="21717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 rule-based algorithms to flag struggling students based on task engagement and grades.</a:t>
            </a:r>
            <a:endParaRPr/>
          </a:p>
        </p:txBody>
      </p:sp>
      <p:sp>
        <p:nvSpPr>
          <p:cNvPr id="28" name="Google Shape;144;p15">
            <a:extLst>
              <a:ext uri="{FF2B5EF4-FFF2-40B4-BE49-F238E27FC236}">
                <a16:creationId xmlns:a16="http://schemas.microsoft.com/office/drawing/2014/main" id="{30C578EA-6091-4D1A-9748-8DCB94F959F8}"/>
              </a:ext>
            </a:extLst>
          </p:cNvPr>
          <p:cNvSpPr txBox="1"/>
          <p:nvPr/>
        </p:nvSpPr>
        <p:spPr>
          <a:xfrm>
            <a:off x="9277350" y="2978348"/>
            <a:ext cx="25955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dirty="0"/>
          </a:p>
        </p:txBody>
      </p:sp>
      <p:sp>
        <p:nvSpPr>
          <p:cNvPr id="29" name="Google Shape;145;p15">
            <a:extLst>
              <a:ext uri="{FF2B5EF4-FFF2-40B4-BE49-F238E27FC236}">
                <a16:creationId xmlns:a16="http://schemas.microsoft.com/office/drawing/2014/main" id="{C6232AAD-4375-4183-81BB-8E225D959CDC}"/>
              </a:ext>
            </a:extLst>
          </p:cNvPr>
          <p:cNvSpPr txBox="1"/>
          <p:nvPr/>
        </p:nvSpPr>
        <p:spPr>
          <a:xfrm>
            <a:off x="9277350" y="3445073"/>
            <a:ext cx="228028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59-Requirement Traceability</a:t>
            </a:r>
            <a:endParaRPr dirty="0"/>
          </a:p>
        </p:txBody>
      </p:sp>
      <p:sp>
        <p:nvSpPr>
          <p:cNvPr id="30" name="Google Shape;146;p15">
            <a:extLst>
              <a:ext uri="{FF2B5EF4-FFF2-40B4-BE49-F238E27FC236}">
                <a16:creationId xmlns:a16="http://schemas.microsoft.com/office/drawing/2014/main" id="{58DE65C3-F1E4-4F10-9310-6A804AF23819}"/>
              </a:ext>
            </a:extLst>
          </p:cNvPr>
          <p:cNvSpPr txBox="1"/>
          <p:nvPr/>
        </p:nvSpPr>
        <p:spPr>
          <a:xfrm>
            <a:off x="9277350" y="3959423"/>
            <a:ext cx="21717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 all functional capabilities directly to UML behavioral models and unit testing specifications.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7373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E7ED3-C13B-D163-23FA-3ACDDB15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OCT-26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8B2C3-8337-C2D2-EA88-9E4BC9F9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1E66-EBB7-BF9F-40E8-B58F9CB7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444CC-9A95-8B29-7BB5-90CFC2E2D96D}"/>
              </a:ext>
            </a:extLst>
          </p:cNvPr>
          <p:cNvSpPr txBox="1"/>
          <p:nvPr/>
        </p:nvSpPr>
        <p:spPr>
          <a:xfrm>
            <a:off x="417576" y="463187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Literature Review and Previous Work</a:t>
            </a:r>
          </a:p>
        </p:txBody>
      </p:sp>
      <p:sp>
        <p:nvSpPr>
          <p:cNvPr id="9" name="Google Shape;151;p16">
            <a:extLst>
              <a:ext uri="{FF2B5EF4-FFF2-40B4-BE49-F238E27FC236}">
                <a16:creationId xmlns:a16="http://schemas.microsoft.com/office/drawing/2014/main" id="{F424EE54-C044-49DE-944E-B0265977430A}"/>
              </a:ext>
            </a:extLst>
          </p:cNvPr>
          <p:cNvSpPr/>
          <p:nvPr/>
        </p:nvSpPr>
        <p:spPr>
          <a:xfrm>
            <a:off x="609600" y="237351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52;p16">
            <a:extLst>
              <a:ext uri="{FF2B5EF4-FFF2-40B4-BE49-F238E27FC236}">
                <a16:creationId xmlns:a16="http://schemas.microsoft.com/office/drawing/2014/main" id="{3115B652-F687-4C90-932F-43A99ADC0C07}"/>
              </a:ext>
            </a:extLst>
          </p:cNvPr>
          <p:cNvSpPr/>
          <p:nvPr/>
        </p:nvSpPr>
        <p:spPr>
          <a:xfrm>
            <a:off x="609600" y="309741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53;p16">
            <a:extLst>
              <a:ext uri="{FF2B5EF4-FFF2-40B4-BE49-F238E27FC236}">
                <a16:creationId xmlns:a16="http://schemas.microsoft.com/office/drawing/2014/main" id="{945148A4-09C9-4876-A59C-5F4778E431CA}"/>
              </a:ext>
            </a:extLst>
          </p:cNvPr>
          <p:cNvSpPr/>
          <p:nvPr/>
        </p:nvSpPr>
        <p:spPr>
          <a:xfrm>
            <a:off x="609600" y="364986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54;p16">
            <a:extLst>
              <a:ext uri="{FF2B5EF4-FFF2-40B4-BE49-F238E27FC236}">
                <a16:creationId xmlns:a16="http://schemas.microsoft.com/office/drawing/2014/main" id="{CC72E0C6-4C0F-4D65-BB65-0B3B0D393AAF}"/>
              </a:ext>
            </a:extLst>
          </p:cNvPr>
          <p:cNvSpPr/>
          <p:nvPr/>
        </p:nvSpPr>
        <p:spPr>
          <a:xfrm>
            <a:off x="609600" y="420231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5;p16">
            <a:extLst>
              <a:ext uri="{FF2B5EF4-FFF2-40B4-BE49-F238E27FC236}">
                <a16:creationId xmlns:a16="http://schemas.microsoft.com/office/drawing/2014/main" id="{1352237C-EF9A-40C0-942A-3CDFFE4CECAD}"/>
              </a:ext>
            </a:extLst>
          </p:cNvPr>
          <p:cNvSpPr/>
          <p:nvPr/>
        </p:nvSpPr>
        <p:spPr>
          <a:xfrm>
            <a:off x="609600" y="492621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56;p16">
            <a:extLst>
              <a:ext uri="{FF2B5EF4-FFF2-40B4-BE49-F238E27FC236}">
                <a16:creationId xmlns:a16="http://schemas.microsoft.com/office/drawing/2014/main" id="{B0A300F3-0F38-406F-8447-45B72F1CC467}"/>
              </a:ext>
            </a:extLst>
          </p:cNvPr>
          <p:cNvSpPr/>
          <p:nvPr/>
        </p:nvSpPr>
        <p:spPr>
          <a:xfrm>
            <a:off x="609600" y="2373510"/>
            <a:ext cx="28575" cy="609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7;p16">
            <a:extLst>
              <a:ext uri="{FF2B5EF4-FFF2-40B4-BE49-F238E27FC236}">
                <a16:creationId xmlns:a16="http://schemas.microsoft.com/office/drawing/2014/main" id="{07D229DF-E4F0-4F8D-89A2-3C40BC5BF92D}"/>
              </a:ext>
            </a:extLst>
          </p:cNvPr>
          <p:cNvSpPr/>
          <p:nvPr/>
        </p:nvSpPr>
        <p:spPr>
          <a:xfrm>
            <a:off x="609600" y="3097410"/>
            <a:ext cx="28575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58;p16">
            <a:extLst>
              <a:ext uri="{FF2B5EF4-FFF2-40B4-BE49-F238E27FC236}">
                <a16:creationId xmlns:a16="http://schemas.microsoft.com/office/drawing/2014/main" id="{3AB02B28-E78D-4097-940B-F8965BA1414B}"/>
              </a:ext>
            </a:extLst>
          </p:cNvPr>
          <p:cNvSpPr/>
          <p:nvPr/>
        </p:nvSpPr>
        <p:spPr>
          <a:xfrm>
            <a:off x="609600" y="3649860"/>
            <a:ext cx="28575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59;p16">
            <a:extLst>
              <a:ext uri="{FF2B5EF4-FFF2-40B4-BE49-F238E27FC236}">
                <a16:creationId xmlns:a16="http://schemas.microsoft.com/office/drawing/2014/main" id="{FD30C285-36AF-4F5B-A07E-2C4B2495396A}"/>
              </a:ext>
            </a:extLst>
          </p:cNvPr>
          <p:cNvSpPr/>
          <p:nvPr/>
        </p:nvSpPr>
        <p:spPr>
          <a:xfrm>
            <a:off x="609600" y="4202310"/>
            <a:ext cx="28575" cy="609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60;p16">
            <a:extLst>
              <a:ext uri="{FF2B5EF4-FFF2-40B4-BE49-F238E27FC236}">
                <a16:creationId xmlns:a16="http://schemas.microsoft.com/office/drawing/2014/main" id="{041CF091-03DF-46FE-983C-100B9DF82236}"/>
              </a:ext>
            </a:extLst>
          </p:cNvPr>
          <p:cNvSpPr/>
          <p:nvPr/>
        </p:nvSpPr>
        <p:spPr>
          <a:xfrm>
            <a:off x="609600" y="4926210"/>
            <a:ext cx="28575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64;p16">
            <a:extLst>
              <a:ext uri="{FF2B5EF4-FFF2-40B4-BE49-F238E27FC236}">
                <a16:creationId xmlns:a16="http://schemas.microsoft.com/office/drawing/2014/main" id="{57265710-D352-477F-8F9E-121E970F0249}"/>
              </a:ext>
            </a:extLst>
          </p:cNvPr>
          <p:cNvSpPr txBox="1"/>
          <p:nvPr/>
        </p:nvSpPr>
        <p:spPr>
          <a:xfrm>
            <a:off x="828675" y="2506860"/>
            <a:ext cx="1428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Al-Mashaqbeh (2023)</a:t>
            </a:r>
            <a:endParaRPr/>
          </a:p>
        </p:txBody>
      </p:sp>
      <p:sp>
        <p:nvSpPr>
          <p:cNvPr id="20" name="Google Shape;165;p16">
            <a:extLst>
              <a:ext uri="{FF2B5EF4-FFF2-40B4-BE49-F238E27FC236}">
                <a16:creationId xmlns:a16="http://schemas.microsoft.com/office/drawing/2014/main" id="{050C9BD9-13F3-4541-97A8-5DABC879E3B4}"/>
              </a:ext>
            </a:extLst>
          </p:cNvPr>
          <p:cNvSpPr txBox="1"/>
          <p:nvPr/>
        </p:nvSpPr>
        <p:spPr>
          <a:xfrm>
            <a:off x="2447925" y="2515689"/>
            <a:ext cx="88296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Investigated adaptive LMS in Arab higher education; noted post-hoc translations cause severe RTL rendering breakage.</a:t>
            </a:r>
            <a:endParaRPr dirty="0"/>
          </a:p>
        </p:txBody>
      </p:sp>
      <p:sp>
        <p:nvSpPr>
          <p:cNvPr id="21" name="Google Shape;166;p16">
            <a:extLst>
              <a:ext uri="{FF2B5EF4-FFF2-40B4-BE49-F238E27FC236}">
                <a16:creationId xmlns:a16="http://schemas.microsoft.com/office/drawing/2014/main" id="{9E74B7D4-8A81-4796-B817-C8ECC505B40C}"/>
              </a:ext>
            </a:extLst>
          </p:cNvPr>
          <p:cNvSpPr txBox="1"/>
          <p:nvPr/>
        </p:nvSpPr>
        <p:spPr>
          <a:xfrm>
            <a:off x="828675" y="3230760"/>
            <a:ext cx="16668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Silva (2023)</a:t>
            </a:r>
            <a:endParaRPr/>
          </a:p>
        </p:txBody>
      </p:sp>
      <p:sp>
        <p:nvSpPr>
          <p:cNvPr id="22" name="Google Shape;167;p16">
            <a:extLst>
              <a:ext uri="{FF2B5EF4-FFF2-40B4-BE49-F238E27FC236}">
                <a16:creationId xmlns:a16="http://schemas.microsoft.com/office/drawing/2014/main" id="{DEEB3A35-DD8B-415C-8E2E-44B638F6ED87}"/>
              </a:ext>
            </a:extLst>
          </p:cNvPr>
          <p:cNvSpPr txBox="1"/>
          <p:nvPr/>
        </p:nvSpPr>
        <p:spPr>
          <a:xfrm>
            <a:off x="2162175" y="3230760"/>
            <a:ext cx="100298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Evaluated MVT vs MVC; proved Django MVT coupled with optimized ORM yields superior template rendering speed.</a:t>
            </a:r>
            <a:endParaRPr/>
          </a:p>
        </p:txBody>
      </p:sp>
      <p:sp>
        <p:nvSpPr>
          <p:cNvPr id="23" name="Google Shape;168;p16">
            <a:extLst>
              <a:ext uri="{FF2B5EF4-FFF2-40B4-BE49-F238E27FC236}">
                <a16:creationId xmlns:a16="http://schemas.microsoft.com/office/drawing/2014/main" id="{46AB71C1-FC08-425E-BE3F-76C7DFF44E00}"/>
              </a:ext>
            </a:extLst>
          </p:cNvPr>
          <p:cNvSpPr txBox="1"/>
          <p:nvPr/>
        </p:nvSpPr>
        <p:spPr>
          <a:xfrm>
            <a:off x="828675" y="3783210"/>
            <a:ext cx="16668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Al-Hassan (2023)</a:t>
            </a:r>
            <a:endParaRPr/>
          </a:p>
        </p:txBody>
      </p:sp>
      <p:sp>
        <p:nvSpPr>
          <p:cNvPr id="24" name="Google Shape;169;p16">
            <a:extLst>
              <a:ext uri="{FF2B5EF4-FFF2-40B4-BE49-F238E27FC236}">
                <a16:creationId xmlns:a16="http://schemas.microsoft.com/office/drawing/2014/main" id="{E928310A-5084-4A8A-A63D-8E5594D0CF64}"/>
              </a:ext>
            </a:extLst>
          </p:cNvPr>
          <p:cNvSpPr txBox="1"/>
          <p:nvPr/>
        </p:nvSpPr>
        <p:spPr>
          <a:xfrm>
            <a:off x="2162175" y="3783210"/>
            <a:ext cx="100298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Established CSS logical property standards for native RTL layout compliance across mobile and desktop.</a:t>
            </a:r>
            <a:endParaRPr/>
          </a:p>
        </p:txBody>
      </p:sp>
      <p:sp>
        <p:nvSpPr>
          <p:cNvPr id="25" name="Google Shape;170;p16">
            <a:extLst>
              <a:ext uri="{FF2B5EF4-FFF2-40B4-BE49-F238E27FC236}">
                <a16:creationId xmlns:a16="http://schemas.microsoft.com/office/drawing/2014/main" id="{EAC27437-374E-4AFA-8B62-B4ADB64C230F}"/>
              </a:ext>
            </a:extLst>
          </p:cNvPr>
          <p:cNvSpPr txBox="1"/>
          <p:nvPr/>
        </p:nvSpPr>
        <p:spPr>
          <a:xfrm>
            <a:off x="828675" y="4335660"/>
            <a:ext cx="1428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Otto &amp; Thornton (2021)</a:t>
            </a:r>
            <a:endParaRPr/>
          </a:p>
        </p:txBody>
      </p:sp>
      <p:sp>
        <p:nvSpPr>
          <p:cNvPr id="26" name="Google Shape;171;p16">
            <a:extLst>
              <a:ext uri="{FF2B5EF4-FFF2-40B4-BE49-F238E27FC236}">
                <a16:creationId xmlns:a16="http://schemas.microsoft.com/office/drawing/2014/main" id="{DBA39C24-4B9F-4F08-A071-2E2748DCCEB9}"/>
              </a:ext>
            </a:extLst>
          </p:cNvPr>
          <p:cNvSpPr txBox="1"/>
          <p:nvPr/>
        </p:nvSpPr>
        <p:spPr>
          <a:xfrm>
            <a:off x="2162175" y="4421385"/>
            <a:ext cx="100298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Demonstrated zero-configuration SQLite ACID compliance as optimal for low-overhead academic LMS prototypes.</a:t>
            </a:r>
            <a:endParaRPr/>
          </a:p>
        </p:txBody>
      </p:sp>
      <p:sp>
        <p:nvSpPr>
          <p:cNvPr id="27" name="Google Shape;172;p16">
            <a:extLst>
              <a:ext uri="{FF2B5EF4-FFF2-40B4-BE49-F238E27FC236}">
                <a16:creationId xmlns:a16="http://schemas.microsoft.com/office/drawing/2014/main" id="{6D5F3F9D-8538-4441-8AE8-3E098D26F74A}"/>
              </a:ext>
            </a:extLst>
          </p:cNvPr>
          <p:cNvSpPr txBox="1"/>
          <p:nvPr/>
        </p:nvSpPr>
        <p:spPr>
          <a:xfrm>
            <a:off x="828675" y="5059560"/>
            <a:ext cx="16668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Al-Rahman (2025)</a:t>
            </a:r>
            <a:endParaRPr/>
          </a:p>
        </p:txBody>
      </p:sp>
      <p:sp>
        <p:nvSpPr>
          <p:cNvPr id="28" name="Google Shape;173;p16">
            <a:extLst>
              <a:ext uri="{FF2B5EF4-FFF2-40B4-BE49-F238E27FC236}">
                <a16:creationId xmlns:a16="http://schemas.microsoft.com/office/drawing/2014/main" id="{1C788754-45A7-4264-8EB3-8987A9C308B7}"/>
              </a:ext>
            </a:extLst>
          </p:cNvPr>
          <p:cNvSpPr txBox="1"/>
          <p:nvPr/>
        </p:nvSpPr>
        <p:spPr>
          <a:xfrm>
            <a:off x="2162175" y="5059560"/>
            <a:ext cx="100298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Showed rule-based at-risk heuristics improve student retention, though microservice setups remain over-complex.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3334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407DD-A187-47D0-F7D0-D8EFECD8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B85F1-EC29-F285-CD6F-1FC6E3D1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B7830-AE76-FA38-8FDC-9C99C8C6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6949F-FA28-8B4A-2632-3CC4A0938BD9}"/>
              </a:ext>
            </a:extLst>
          </p:cNvPr>
          <p:cNvSpPr txBox="1"/>
          <p:nvPr/>
        </p:nvSpPr>
        <p:spPr>
          <a:xfrm>
            <a:off x="251460" y="373461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Comparison of previous studies</a:t>
            </a:r>
          </a:p>
        </p:txBody>
      </p:sp>
      <p:graphicFrame>
        <p:nvGraphicFramePr>
          <p:cNvPr id="8" name="Google Shape;204;p17">
            <a:extLst>
              <a:ext uri="{FF2B5EF4-FFF2-40B4-BE49-F238E27FC236}">
                <a16:creationId xmlns:a16="http://schemas.microsoft.com/office/drawing/2014/main" id="{112DBF0A-D8EE-4CD5-926A-5C5276D4DD0E}"/>
              </a:ext>
            </a:extLst>
          </p:cNvPr>
          <p:cNvGraphicFramePr/>
          <p:nvPr/>
        </p:nvGraphicFramePr>
        <p:xfrm>
          <a:off x="609600" y="2168723"/>
          <a:ext cx="10972825" cy="34003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9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System / Study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Tech Stack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Key Feature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Key Feature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Strengths &amp; Limitations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Moodle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PHP, MySQL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Question Banks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SCORM Plugins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Robust ecosystem; heavy RTL overhead and complex UI.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Canvas LMS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Ruby, React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Modern UX / API-First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Mobile Ecosystem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Excellent UX; high SaaS licensing cost and rigid localization.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Open edX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Python, Microservices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Massive Scale MOOC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XBlock Framework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scalability; extreme infrastructure deployment complexity.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Al-Rahman (2025)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Python, ML, 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ML At-Risk Prediction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Content Recommendations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Predictive power; heavy resource demands and no native RTL.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Proposed System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Django MVT, SQLite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Native Arabic RTL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Heuristic Analytics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Zero-cost deployment, native RTL, lightweight &amp; tailored.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27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12627-07FD-457B-3E38-68299376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E5E1-8F32-7A75-D549-1B986529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B202-87AB-2A68-ACDD-C0D1E321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8F884-D39F-11EE-4D51-5280663BEB05}"/>
              </a:ext>
            </a:extLst>
          </p:cNvPr>
          <p:cNvSpPr txBox="1"/>
          <p:nvPr/>
        </p:nvSpPr>
        <p:spPr>
          <a:xfrm>
            <a:off x="283464" y="522851"/>
            <a:ext cx="1044930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General Functional System Requirements: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247E09-863E-D1C2-D722-D9CC5CA55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205566"/>
              </p:ext>
            </p:extLst>
          </p:nvPr>
        </p:nvGraphicFramePr>
        <p:xfrm>
          <a:off x="1591438" y="2471694"/>
          <a:ext cx="9345168" cy="19146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6114">
                  <a:extLst>
                    <a:ext uri="{9D8B030D-6E8A-4147-A177-3AD203B41FA5}">
                      <a16:colId xmlns:a16="http://schemas.microsoft.com/office/drawing/2014/main" val="400285357"/>
                    </a:ext>
                  </a:extLst>
                </a:gridCol>
                <a:gridCol w="7169054">
                  <a:extLst>
                    <a:ext uri="{9D8B030D-6E8A-4147-A177-3AD203B41FA5}">
                      <a16:colId xmlns:a16="http://schemas.microsoft.com/office/drawing/2014/main" val="3544803755"/>
                    </a:ext>
                  </a:extLst>
                </a:gridCol>
              </a:tblGrid>
              <a:tr h="56235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ID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General Functional Requirement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663475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FR-G01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The system must allow Secure Authentication &amp; Authorization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8312416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FR-G02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The system must allow Course &amp; Multimedia Lifecycle Management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6855219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FR-G03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The system must allow Assessment &amp; Evaluation Engine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9307271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FR-G04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The system must allow Institutional Analytics &amp; Communication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0489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62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490D0-F977-70A1-C8C6-88865609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2D5F-1736-8A53-76FE-F6C1BE9C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3D76-EC54-70CD-79C9-1B65AD83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76CD9-99C4-9D8A-6CDD-732E379AF4CB}"/>
              </a:ext>
            </a:extLst>
          </p:cNvPr>
          <p:cNvSpPr txBox="1"/>
          <p:nvPr/>
        </p:nvSpPr>
        <p:spPr>
          <a:xfrm>
            <a:off x="1524" y="271735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A51A62-8EA8-E40B-DCB1-5FB2FC00D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333544"/>
              </p:ext>
            </p:extLst>
          </p:nvPr>
        </p:nvGraphicFramePr>
        <p:xfrm>
          <a:off x="996696" y="1225296"/>
          <a:ext cx="10104121" cy="46518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3481">
                  <a:extLst>
                    <a:ext uri="{9D8B030D-6E8A-4147-A177-3AD203B41FA5}">
                      <a16:colId xmlns:a16="http://schemas.microsoft.com/office/drawing/2014/main" val="3947864476"/>
                    </a:ext>
                  </a:extLst>
                </a:gridCol>
                <a:gridCol w="6410359">
                  <a:extLst>
                    <a:ext uri="{9D8B030D-6E8A-4147-A177-3AD203B41FA5}">
                      <a16:colId xmlns:a16="http://schemas.microsoft.com/office/drawing/2014/main" val="2250732525"/>
                    </a:ext>
                  </a:extLst>
                </a:gridCol>
                <a:gridCol w="2240281">
                  <a:extLst>
                    <a:ext uri="{9D8B030D-6E8A-4147-A177-3AD203B41FA5}">
                      <a16:colId xmlns:a16="http://schemas.microsoft.com/office/drawing/2014/main" val="1585840319"/>
                    </a:ext>
                  </a:extLst>
                </a:gridCol>
              </a:tblGrid>
              <a:tr h="62255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ID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Description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Non-functional requirement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4380827"/>
                  </a:ext>
                </a:extLst>
              </a:tr>
              <a:tr h="10073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NFR-01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Flawless rendering across desktop, tablet, and mobile device viewports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Responsive Design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2305446"/>
                  </a:ext>
                </a:extLst>
              </a:tr>
              <a:tr h="10073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NFR-04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PBKDF2 SHA256 password hashing and CSRF token protection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Data Security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9258482"/>
                  </a:ext>
                </a:extLst>
              </a:tr>
              <a:tr h="10073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NFR-06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Native Arabic RTL layout structure from base HTML templates up.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Native Localization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4873714"/>
                  </a:ext>
                </a:extLst>
              </a:tr>
              <a:tr h="10073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</a:rPr>
                        <a:t>NFR-010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Rule-based calculations to track student engagement and flag academic risk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Intelligent Analytics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4606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40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96BA6-32B1-D3CE-5D0F-8B0F7DCC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0650"/>
            <a:ext cx="4114800" cy="365125"/>
          </a:xfrm>
        </p:spPr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85B69-20DE-8D7B-2FF6-B020A9BD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9650" y="6459537"/>
            <a:ext cx="2743200" cy="365125"/>
          </a:xfrm>
        </p:spPr>
        <p:txBody>
          <a:bodyPr/>
          <a:lstStyle/>
          <a:p>
            <a:fld id="{2C11977B-EEE1-4D56-A6CE-8035002D8A82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36810-8581-F1F0-2198-A22F32810AD5}"/>
              </a:ext>
            </a:extLst>
          </p:cNvPr>
          <p:cNvSpPr txBox="1"/>
          <p:nvPr/>
        </p:nvSpPr>
        <p:spPr>
          <a:xfrm>
            <a:off x="148400" y="188659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Functional requirements for the current project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E74DA4-B5A2-45D1-BEA5-547303709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686287"/>
              </p:ext>
            </p:extLst>
          </p:nvPr>
        </p:nvGraphicFramePr>
        <p:xfrm>
          <a:off x="352425" y="761999"/>
          <a:ext cx="11487150" cy="569754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554985">
                  <a:extLst>
                    <a:ext uri="{9D8B030D-6E8A-4147-A177-3AD203B41FA5}">
                      <a16:colId xmlns:a16="http://schemas.microsoft.com/office/drawing/2014/main" val="4042938749"/>
                    </a:ext>
                  </a:extLst>
                </a:gridCol>
                <a:gridCol w="3514906">
                  <a:extLst>
                    <a:ext uri="{9D8B030D-6E8A-4147-A177-3AD203B41FA5}">
                      <a16:colId xmlns:a16="http://schemas.microsoft.com/office/drawing/2014/main" val="2643291069"/>
                    </a:ext>
                  </a:extLst>
                </a:gridCol>
                <a:gridCol w="5693815">
                  <a:extLst>
                    <a:ext uri="{9D8B030D-6E8A-4147-A177-3AD203B41FA5}">
                      <a16:colId xmlns:a16="http://schemas.microsoft.com/office/drawing/2014/main" val="1408932087"/>
                    </a:ext>
                  </a:extLst>
                </a:gridCol>
                <a:gridCol w="723444">
                  <a:extLst>
                    <a:ext uri="{9D8B030D-6E8A-4147-A177-3AD203B41FA5}">
                      <a16:colId xmlns:a16="http://schemas.microsoft.com/office/drawing/2014/main" val="2650065188"/>
                    </a:ext>
                  </a:extLst>
                </a:gridCol>
              </a:tblGrid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 dirty="0">
                          <a:effectLst/>
                        </a:rPr>
                        <a:t>REQ-030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Create Assignment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Teacher creates a new assignment with title, description, file attachment, and deadline.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2016509309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REQ-031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View Assignment Details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views assignment requirements, instructions, and due dates.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4215332525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REQ-032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Submit Assignment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uploads a file or enters text as an assignment solution before the deadline.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3862643405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REQ-033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View Submissions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Teacher views the list of students who submitted the assignment and those who did not.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1043250815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REQ-034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Grade Assignment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Teacher enters a grade and adds text feedback for each assignment submission.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3834448125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REQ-035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View Grade &amp; Feedback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views their assignment grade and reads the teacher's feedback.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607068984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REQ-036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Start Quiz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starts an available quiz with a countdown timer display if a time limit is set.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751322246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REQ-037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Auto-Grade Objective Qs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System automatically calculates quiz grade based on stored correct answers upon submission.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2133109696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REQ-038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View Instant Quiz Result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System displays student's grade and correct answers compared to their responses.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3843212203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REQ-039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View Student Grade Log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views a summary of all grades (assignments + quizzes) in a specific course.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3373510101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REQ-040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Export Course Grades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Teacher exports the student grades table for a course to an Excel/CSV file.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3337251673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REQ-041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Post Course Announcement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Teacher publishes an announcement visible on the course homepage to all enrolled students.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250149636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REQ-042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View Announcements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Students and admins view course-specific or platform-wide announcements.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1200462183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REQ-043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Post Discussion Question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posts a question or starts a discussion thread in the course forum.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3669426659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REQ-044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Reply to Discussions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Teacher or students reply to questions posted in the discussion forum.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3614749102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REQ-045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View Course Progress Bar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System calculates and displays student's course completion percentage based on activity.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2917232431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REQ-046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Dashboard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views comprehensive overview: enrolled courses, upcoming tasks, and announcements.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1428610592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REQ-047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Teacher Dashboard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Teacher views quick statistics: enrolled students, pending grading, and course averages.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2860311510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REQ-048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Identify At-Risk Students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Teacher filters and identifies students with unsubmitted assignments or low progress (heuristic).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1619372405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REQ-049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Assignment Submission Notif.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 dirty="0">
                          <a:effectLst/>
                        </a:rPr>
                        <a:t>System sends an internal notification to the teacher when a student submits an assignment.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2500241340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REQ-050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Grade/Announcement Notif.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System sends a notification to the student when graded or when a new announcement is posted.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1574782164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REQ-051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View Personal Academic Cal.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views assignment due dates and quiz schedules in a simplified calendar interface.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1035737874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REQ-052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Advanced Course Search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User searches courses using keywords, category filter, or teacher name.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2349282527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REQ-053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Bookmark/Favorite Course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adds course to favorites list for quick dashboard access.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3282320023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REQ-054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Download Course Materials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Student downloads attached files from course content if permitted.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3683119406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REQ-055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Submit Feedback/Support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User submits technical feedback or an issue report to the system administrator via a form.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2147378874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REQ-056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Duplicate Course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Teacher/Admin copies existing course structure to create a new one quickly.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282904239"/>
                  </a:ext>
                </a:extLst>
              </a:tr>
              <a:tr h="201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REQ-057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Archive Completed Courses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System moves completed courses to an archive section, hiding them from main UI.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888938753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REQ-058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Granular Permission Mgmt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Admin modifies sub-role permissions (e.g., restrict course deletion).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2036369591"/>
                  </a:ext>
                </a:extLst>
              </a:tr>
              <a:tr h="1667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REQ-059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Manual Database Backup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Admin clicks a button to export the current SQLite database backup.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 dirty="0">
                          <a:effectLst/>
                        </a:rPr>
                        <a:t>5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17098" marR="17098" marT="0" marB="0" anchor="ctr"/>
                </a:tc>
                <a:extLst>
                  <a:ext uri="{0D108BD9-81ED-4DB2-BD59-A6C34878D82A}">
                    <a16:rowId xmlns:a16="http://schemas.microsoft.com/office/drawing/2014/main" val="3857366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074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43481-1474-F6FB-E26F-234BCCE3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FC852-467C-BAA7-9AA2-ED3CA591D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59B6-EF1D-127F-DE97-C8FB9F03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2A0AE-4E08-201B-39E7-C0595AAEF0C8}"/>
              </a:ext>
            </a:extLst>
          </p:cNvPr>
          <p:cNvSpPr txBox="1"/>
          <p:nvPr/>
        </p:nvSpPr>
        <p:spPr>
          <a:xfrm>
            <a:off x="169164" y="431183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Development Methodology: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EEC3D-5441-40A7-9D58-9CCF348242A2}"/>
              </a:ext>
            </a:extLst>
          </p:cNvPr>
          <p:cNvSpPr txBox="1"/>
          <p:nvPr/>
        </p:nvSpPr>
        <p:spPr>
          <a:xfrm>
            <a:off x="169164" y="921382"/>
            <a:ext cx="4914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dirty="0"/>
              <a:t>Incremental Development Model</a:t>
            </a:r>
            <a:endParaRPr lang="ar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BA4136-C519-4704-98B4-E7B37B31B5BC}"/>
              </a:ext>
            </a:extLst>
          </p:cNvPr>
          <p:cNvSpPr txBox="1"/>
          <p:nvPr/>
        </p:nvSpPr>
        <p:spPr>
          <a:xfrm>
            <a:off x="1790700" y="1570368"/>
            <a:ext cx="8191500" cy="4607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Incremental 1 (Initialization &amp; Requirements):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 Completion of literature review, stakeholder analysis, and finalization of the 59-item RDB (REQ-001 to REQ-059).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Incremental 2 (System Design):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 Approval of UML behavioral/structural diagrams, ERD, and architectural blueprint.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Incremental 3 (Core Implementation):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 Delivery of Increment 1 &amp; 2 (Authentication, Admin Panel, Course &amp; Content Management).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Incremental 4 (Advanced Modules):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 Delivery of Increment 3 (Assignments, Quizzes, Discussions, Analytics Dashboards [REQ-030 to REQ-059]).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Incremental 5 (Testing &amp; Evaluation):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 Execution of system test cases, RTM verification, and final thesis defense preparation.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17219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86D7-737F-883F-4763-97835B7B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97AA4-2DE6-2DB1-C9EE-4F0AC410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8C7D9-B29E-EE99-58C1-F5694697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4BE27-27D0-9F26-4991-C1922E4AD8DB}"/>
              </a:ext>
            </a:extLst>
          </p:cNvPr>
          <p:cNvSpPr txBox="1"/>
          <p:nvPr/>
        </p:nvSpPr>
        <p:spPr>
          <a:xfrm>
            <a:off x="376047" y="136525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Project Plan (Gantt Chart)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5274C8-332F-4F64-81C8-3A1ED71FE6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52" y="1419542"/>
            <a:ext cx="8581739" cy="4438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4324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1221</Words>
  <Application>Microsoft Office PowerPoint</Application>
  <PresentationFormat>Widescreen</PresentationFormat>
  <Paragraphs>255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Plus Jakarta Sans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akram massouh</dc:creator>
  <cp:lastModifiedBy>belal haidar</cp:lastModifiedBy>
  <cp:revision>58</cp:revision>
  <dcterms:created xsi:type="dcterms:W3CDTF">2026-10-17T18:22:22Z</dcterms:created>
  <dcterms:modified xsi:type="dcterms:W3CDTF">2026-10-21T10:08:32Z</dcterms:modified>
</cp:coreProperties>
</file>